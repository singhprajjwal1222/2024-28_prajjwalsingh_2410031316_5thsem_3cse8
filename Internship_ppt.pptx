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97680"/>
            <a:ext cx="3291840" cy="32918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66928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2588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U.P.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– EDUSKILLS VIRTUAL INTERNSHIP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26974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Siemens Data Science Master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8580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8-Week Professional Internship Presentation Report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18120" y="233172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46720" y="2487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CREDENTIALS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46720" y="2761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PRAJJWAL SINGH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4672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2410031316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3364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(CSE)  |  Batch 2024-28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0" y="3703320"/>
            <a:ext cx="3291840" cy="0"/>
          </a:xfrm>
          <a:prstGeom prst="line">
            <a:avLst/>
          </a:prstGeom>
          <a:noFill/>
          <a:ln w="12700">
            <a:solidFill>
              <a:srgbClr val="E3EE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0" y="3794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4672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Outstanding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5989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62453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– August 2026 (8 Weeks)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Program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F4F9F9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candid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8150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556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" y="26609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PRAJJWAL SINGH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1363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337413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2410031316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8496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40873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&amp; Engineering)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45628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4800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2024-28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52760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" y="55138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63640" y="137160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F4F9F9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0" y="1691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1" descr="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124" y="1815084"/>
            <a:ext cx="301752" cy="3017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17556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Profile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583680" y="24231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Name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583680" y="26609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– EduSkills Virtual Internship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583680" y="31363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Domain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6583680" y="337413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Data Science Master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583680" y="38496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583680" y="40873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(June 2026 – August 2026)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583680" y="45628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583680" y="4800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402ba7d147034138cc08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583680" y="52760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 Ref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583680" y="55138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C17Y2026M081499400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Data Science Master  |  PRAJJWAL SINGH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Profile: EduSkills Academy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2304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2801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is an ISO 9001:2015 and ISO 20000-1:2018 certified organization operating under the vision of "Nation Building Through Skills".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4F9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organ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8106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974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Collaboration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under the patronage of the AICTE National Internship Portal, Ministry of Education, to empower engineering talent across India.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242316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4F9F9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697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17" y="28106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6974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Alignment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37960" y="32918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with Siemens Industry Software to bridge the gap between academic learning and real-world data science practice.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8006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4F9F9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518807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074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 Domains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2960" y="56692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Engineering, Machine Learning, Data Preparation &amp; Automation, and Enterprise Platform Administration.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63640" y="48006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4F9F9"/>
          </a:solidFill>
          <a:ln/>
        </p:spPr>
      </p:sp>
      <p:sp>
        <p:nvSpPr>
          <p:cNvPr id="21" name="Shape 16"/>
          <p:cNvSpPr/>
          <p:nvPr/>
        </p:nvSpPr>
        <p:spPr>
          <a:xfrm>
            <a:off x="6537960" y="50749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117" y="518807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5074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37960" y="56692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as a Great Place to Work; structured, assessment-driven curriculum with certified learning outcomes.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Data Science Master  |  PRAJJWAL SINGH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Industry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4F9F9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5" name="Image 0" descr="icons/challe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86080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013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Challenge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academic curricula extensively cover the theory of statistics and machine learning, students often lack hands-on exposure to the complete, real-world data science workflow used in the industry.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4709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high-performing model built in isolation provides little business value until it is grounded in a real use case, fed by clean engineered data, and properly deployed, monitored, and administered on an enterprise platform.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023047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7373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icons/sol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124" y="18608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013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Scope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51460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addresses the complete data science lifecycle: identifying suitable business problems, engineering and preparing data, building machine learning models, and deploying, monitoring, and administering them at scale.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83680" y="425196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master an industry-grade platform — RapidMiner AI Hub — to transform raw business data into reliable, monitored, production-ready machine learning solutions.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Data Science Master  |  PRAJJWAL SINGH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9F9"/>
          </a:solidFill>
          <a:ln/>
        </p:spPr>
      </p:sp>
      <p:sp>
        <p:nvSpPr>
          <p:cNvPr id="4" name="Shape 2"/>
          <p:cNvSpPr/>
          <p:nvPr/>
        </p:nvSpPr>
        <p:spPr>
          <a:xfrm>
            <a:off x="1508760" y="17830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210" y="19545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974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Use-Case Framing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business problems suitable for AI and machine learning solutions before writing any code.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01568" y="14630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9F9"/>
          </a:solidFill>
          <a:ln/>
        </p:spPr>
      </p:sp>
      <p:sp>
        <p:nvSpPr>
          <p:cNvPr id="9" name="Shape 6"/>
          <p:cNvSpPr/>
          <p:nvPr/>
        </p:nvSpPr>
        <p:spPr>
          <a:xfrm>
            <a:off x="4361688" y="17830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138" y="195453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84448" y="26974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Prep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584448" y="361188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load, transform, and calculate data; master advanced data handling and automation.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54496" y="14630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4F9F9"/>
          </a:solidFill>
          <a:ln/>
        </p:spPr>
      </p:sp>
      <p:sp>
        <p:nvSpPr>
          <p:cNvPr id="14" name="Shape 10"/>
          <p:cNvSpPr/>
          <p:nvPr/>
        </p:nvSpPr>
        <p:spPr>
          <a:xfrm>
            <a:off x="7214616" y="17830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066" y="19545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37376" y="26974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Mastery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37376" y="361188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foundational and then advanced machine learning models across professional and master levels.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107424" y="14630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023047"/>
          </a:solidFill>
          <a:ln/>
        </p:spPr>
      </p:sp>
      <p:sp>
        <p:nvSpPr>
          <p:cNvPr id="19" name="Shape 14"/>
          <p:cNvSpPr/>
          <p:nvPr/>
        </p:nvSpPr>
        <p:spPr>
          <a:xfrm>
            <a:off x="10067544" y="1783080"/>
            <a:ext cx="685800" cy="685800"/>
          </a:xfrm>
          <a:prstGeom prst="ellipse">
            <a:avLst/>
          </a:prstGeom>
          <a:solidFill>
            <a:srgbClr val="023047"/>
          </a:solidFill>
          <a:ln/>
        </p:spPr>
      </p:sp>
      <p:pic>
        <p:nvPicPr>
          <p:cNvPr id="20" name="Image 3" descr="icons/adm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994" y="195453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90304" y="26974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Platform Admin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290304" y="361188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monitor ML models, and configure/manage RapidMiner AI Hub at enterprise level.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Data Science Master  |  PRAJJWAL SINGH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Data Science Toolchain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4F9F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85051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37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access, loading &amp; transformation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calculation &amp; cleaning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automation workflows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4F9F9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17" y="185051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737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537960" y="23317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ML model building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techniques (Master level)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refinement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4F9F9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icons/deplo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431939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206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Monitoring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2960" y="48006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for business use cases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use-case management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63640" y="393192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4F9F9"/>
          </a:solidFill>
          <a:ln/>
        </p:spPr>
      </p:sp>
      <p:sp>
        <p:nvSpPr>
          <p:cNvPr id="19" name="Shape 14"/>
          <p:cNvSpPr/>
          <p:nvPr/>
        </p:nvSpPr>
        <p:spPr>
          <a:xfrm>
            <a:off x="6537960" y="4206240"/>
            <a:ext cx="502920" cy="502920"/>
          </a:xfrm>
          <a:prstGeom prst="ellipse">
            <a:avLst/>
          </a:prstGeom>
          <a:solidFill>
            <a:srgbClr val="023047"/>
          </a:solidFill>
          <a:ln/>
        </p:spPr>
      </p:sp>
      <p:pic>
        <p:nvPicPr>
          <p:cNvPr id="20" name="Image 3" descr="icons/adm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117" y="4319397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4206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537960" y="48006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RapidMiner AI Hub configuration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Enterprise-level operations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governance &amp; management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Data Science Master  |  PRAJJWAL SINGH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Workflow — Layered Approach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513332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5331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 Layer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349240" y="1353312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business problems suitable for AI and machine learning.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12080" y="1993392"/>
            <a:ext cx="0" cy="219456"/>
          </a:xfrm>
          <a:prstGeom prst="line">
            <a:avLst/>
          </a:prstGeom>
          <a:noFill/>
          <a:ln w="12700">
            <a:solidFill>
              <a:srgbClr val="3E6E6E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640080" y="221284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354580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19456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Layer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49240" y="2194560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Accessing, loading, transforming, and calculating raw data.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212080" y="2834640"/>
            <a:ext cx="0" cy="219456"/>
          </a:xfrm>
          <a:prstGeom prst="line">
            <a:avLst/>
          </a:prstGeom>
          <a:noFill/>
          <a:ln w="12700">
            <a:solidFill>
              <a:srgbClr val="3E6E6E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640080" y="305409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195828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03580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Layer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349240" y="3035808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foundational, then advanced, machine learning models.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212080" y="3675888"/>
            <a:ext cx="0" cy="219456"/>
          </a:xfrm>
          <a:prstGeom prst="line">
            <a:avLst/>
          </a:prstGeom>
          <a:noFill/>
          <a:ln w="12700">
            <a:solidFill>
              <a:srgbClr val="3E6E6E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640080" y="3895344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3" descr="icons/autom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4037076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87705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Automation Layer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49240" y="3877056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handling, cleaning, and automated workflows.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212080" y="4517136"/>
            <a:ext cx="0" cy="219456"/>
          </a:xfrm>
          <a:prstGeom prst="line">
            <a:avLst/>
          </a:prstGeom>
          <a:noFill/>
          <a:ln w="12700">
            <a:solidFill>
              <a:srgbClr val="3E6E6E"/>
            </a:solidFill>
            <a:prstDash val="dash"/>
          </a:ln>
        </p:spPr>
      </p:sp>
      <p:sp>
        <p:nvSpPr>
          <p:cNvPr id="23" name="Shape 17"/>
          <p:cNvSpPr/>
          <p:nvPr/>
        </p:nvSpPr>
        <p:spPr>
          <a:xfrm>
            <a:off x="640080" y="473659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4" descr="icons/moni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878324"/>
            <a:ext cx="283464" cy="28346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471830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Monitoring Layer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349240" y="4718304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trained models and monitoring their performance.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212080" y="5358384"/>
            <a:ext cx="0" cy="219456"/>
          </a:xfrm>
          <a:prstGeom prst="line">
            <a:avLst/>
          </a:prstGeom>
          <a:noFill/>
          <a:ln w="12700">
            <a:solidFill>
              <a:srgbClr val="3E6E6E"/>
            </a:solidFill>
            <a:prstDash val="dash"/>
          </a:ln>
        </p:spPr>
      </p:sp>
      <p:sp>
        <p:nvSpPr>
          <p:cNvPr id="28" name="Shape 21"/>
          <p:cNvSpPr/>
          <p:nvPr/>
        </p:nvSpPr>
        <p:spPr>
          <a:xfrm>
            <a:off x="640080" y="55778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9" name="Image 5" descr="icons/adm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5719572"/>
            <a:ext cx="283464" cy="28346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17320" y="555955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Layer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5349240" y="5559552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and managing RapidMiner AI Hub at enterprise level.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Data Science Master  |  PRAJJWAL SINGH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Timeline (Weeks 1 to 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3520440"/>
            <a:ext cx="10332720" cy="0"/>
          </a:xfrm>
          <a:prstGeom prst="line">
            <a:avLst/>
          </a:prstGeom>
          <a:noFill/>
          <a:ln w="25400">
            <a:solidFill>
              <a:srgbClr val="CFE3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5406" y="34198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05990" y="3200400"/>
            <a:ext cx="0" cy="320040"/>
          </a:xfrm>
          <a:prstGeom prst="line">
            <a:avLst/>
          </a:prstGeom>
          <a:noFill/>
          <a:ln w="19050">
            <a:solidFill>
              <a:srgbClr val="CF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4420" y="1783080"/>
            <a:ext cx="2263140" cy="1417320"/>
          </a:xfrm>
          <a:prstGeom prst="roundRect">
            <a:avLst>
              <a:gd name="adj" fmla="val 4516"/>
            </a:avLst>
          </a:prstGeom>
          <a:solidFill>
            <a:srgbClr val="F4F9F9"/>
          </a:solidFill>
          <a:ln/>
        </p:spPr>
      </p:sp>
      <p:sp>
        <p:nvSpPr>
          <p:cNvPr id="7" name="Text 5"/>
          <p:cNvSpPr/>
          <p:nvPr/>
        </p:nvSpPr>
        <p:spPr>
          <a:xfrm>
            <a:off x="1211580" y="187452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11580" y="2148840"/>
            <a:ext cx="1988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 — Professional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11580" y="2496312"/>
            <a:ext cx="19888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business problems suitable for AI and machine learning.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88586" y="34198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9170" y="3621024"/>
            <a:ext cx="0" cy="320040"/>
          </a:xfrm>
          <a:prstGeom prst="line">
            <a:avLst/>
          </a:prstGeom>
          <a:noFill/>
          <a:ln w="19050">
            <a:solidFill>
              <a:srgbClr val="CFE3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3840480"/>
            <a:ext cx="2263140" cy="1417320"/>
          </a:xfrm>
          <a:prstGeom prst="roundRect">
            <a:avLst>
              <a:gd name="adj" fmla="val 4516"/>
            </a:avLst>
          </a:prstGeom>
          <a:solidFill>
            <a:srgbClr val="F4F9F9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393192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4206240"/>
            <a:ext cx="1988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Professional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94760" y="4553712"/>
            <a:ext cx="19888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load, transform, and calculate data.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71766" y="34198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2350" y="3200400"/>
            <a:ext cx="0" cy="320040"/>
          </a:xfrm>
          <a:prstGeom prst="line">
            <a:avLst/>
          </a:prstGeom>
          <a:noFill/>
          <a:ln w="19050">
            <a:solidFill>
              <a:srgbClr val="CFE3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0780" y="1783080"/>
            <a:ext cx="2263140" cy="1417320"/>
          </a:xfrm>
          <a:prstGeom prst="roundRect">
            <a:avLst>
              <a:gd name="adj" fmla="val 4516"/>
            </a:avLst>
          </a:prstGeom>
          <a:solidFill>
            <a:srgbClr val="F4F9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77940" y="187452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7940" y="2148840"/>
            <a:ext cx="1988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Professional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77940" y="2496312"/>
            <a:ext cx="19888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foundational machine learning skills.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54946" y="34198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55530" y="3621024"/>
            <a:ext cx="0" cy="320040"/>
          </a:xfrm>
          <a:prstGeom prst="line">
            <a:avLst/>
          </a:prstGeom>
          <a:noFill/>
          <a:ln w="19050">
            <a:solidFill>
              <a:srgbClr val="CFE3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3840480"/>
            <a:ext cx="2263140" cy="1417320"/>
          </a:xfrm>
          <a:prstGeom prst="roundRect">
            <a:avLst>
              <a:gd name="adj" fmla="val 4516"/>
            </a:avLst>
          </a:prstGeom>
          <a:solidFill>
            <a:srgbClr val="F4F9F9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393192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0" y="4206240"/>
            <a:ext cx="1988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Master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61120" y="4553712"/>
            <a:ext cx="19888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advanced data handling and automation.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Data Science Master  |  PRAJJWAL SINGH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Timeline (Weeks 5 to 8)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3520440"/>
            <a:ext cx="10332720" cy="0"/>
          </a:xfrm>
          <a:prstGeom prst="line">
            <a:avLst/>
          </a:prstGeom>
          <a:noFill/>
          <a:ln w="25400">
            <a:solidFill>
              <a:srgbClr val="CFE3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5406" y="34198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05990" y="3200400"/>
            <a:ext cx="0" cy="320040"/>
          </a:xfrm>
          <a:prstGeom prst="line">
            <a:avLst/>
          </a:prstGeom>
          <a:noFill/>
          <a:ln w="19050">
            <a:solidFill>
              <a:srgbClr val="CF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4420" y="1783080"/>
            <a:ext cx="2263140" cy="1417320"/>
          </a:xfrm>
          <a:prstGeom prst="roundRect">
            <a:avLst>
              <a:gd name="adj" fmla="val 4516"/>
            </a:avLst>
          </a:prstGeom>
          <a:solidFill>
            <a:srgbClr val="F4F9F9"/>
          </a:solidFill>
          <a:ln/>
        </p:spPr>
      </p:sp>
      <p:sp>
        <p:nvSpPr>
          <p:cNvPr id="7" name="Text 5"/>
          <p:cNvSpPr/>
          <p:nvPr/>
        </p:nvSpPr>
        <p:spPr>
          <a:xfrm>
            <a:off x="1211580" y="187452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11580" y="2148840"/>
            <a:ext cx="1988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Master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11580" y="2496312"/>
            <a:ext cx="19888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advanced machine learning techniques.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88586" y="34198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9170" y="3621024"/>
            <a:ext cx="0" cy="320040"/>
          </a:xfrm>
          <a:prstGeom prst="line">
            <a:avLst/>
          </a:prstGeom>
          <a:noFill/>
          <a:ln w="19050">
            <a:solidFill>
              <a:srgbClr val="CFE3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3840480"/>
            <a:ext cx="2263140" cy="1417320"/>
          </a:xfrm>
          <a:prstGeom prst="roundRect">
            <a:avLst>
              <a:gd name="adj" fmla="val 4516"/>
            </a:avLst>
          </a:prstGeom>
          <a:solidFill>
            <a:srgbClr val="F4F9F9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393192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4206240"/>
            <a:ext cx="1988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 — Master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94760" y="4553712"/>
            <a:ext cx="19888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monitor ML models.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71766" y="34198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2350" y="3200400"/>
            <a:ext cx="0" cy="320040"/>
          </a:xfrm>
          <a:prstGeom prst="line">
            <a:avLst/>
          </a:prstGeom>
          <a:noFill/>
          <a:ln w="19050">
            <a:solidFill>
              <a:srgbClr val="CFE3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0780" y="1783080"/>
            <a:ext cx="2263140" cy="1417320"/>
          </a:xfrm>
          <a:prstGeom prst="roundRect">
            <a:avLst>
              <a:gd name="adj" fmla="val 4516"/>
            </a:avLst>
          </a:prstGeom>
          <a:solidFill>
            <a:srgbClr val="F4F9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77940" y="187452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7940" y="2148840"/>
            <a:ext cx="1988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— Master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77940" y="2496312"/>
            <a:ext cx="19888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and manage RapidMiner AI Hub.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54946" y="34198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55530" y="3621024"/>
            <a:ext cx="0" cy="320040"/>
          </a:xfrm>
          <a:prstGeom prst="line">
            <a:avLst/>
          </a:prstGeom>
          <a:noFill/>
          <a:ln w="19050">
            <a:solidFill>
              <a:srgbClr val="CFE3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3840480"/>
            <a:ext cx="2263140" cy="1417320"/>
          </a:xfrm>
          <a:prstGeom prst="roundRect">
            <a:avLst>
              <a:gd name="adj" fmla="val 4516"/>
            </a:avLst>
          </a:prstGeom>
          <a:solidFill>
            <a:srgbClr val="F4F9F9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393192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0" y="4206240"/>
            <a:ext cx="1988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— Master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61120" y="4553712"/>
            <a:ext cx="19888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Enterprise-level platform operations.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Data Science Master  |  PRAJJWAL SINGH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Demonstrated Skills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1667637"/>
            <a:ext cx="276606" cy="2766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417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Use-Case Identification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34440" y="1801368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evaluate business problems and determine where AI/ML delivers real value.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63640" y="1554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797" y="1667637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1417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949440" y="1801368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practical skills in accessing, loading, transforming, and calculating raw datasets.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3313557"/>
            <a:ext cx="276606" cy="2766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063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Building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34440" y="3447288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foundational and advanced machine learning models across the curriculum.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263640" y="3200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icons/autom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797" y="3313557"/>
            <a:ext cx="276606" cy="2766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9440" y="3063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Prep &amp; Automation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949440" y="3447288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advanced data handling, cleaning, and automated processing workflows.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4" descr="icons/moni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" y="4959477"/>
            <a:ext cx="276606" cy="27660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4709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&amp; Monitoring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234440" y="5093208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machine learning models and monitored their performance in use.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263640" y="48463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5" descr="icons/adm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6797" y="4959477"/>
            <a:ext cx="276606" cy="27660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4709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Administration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949440" y="5093208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and managed RapidMiner AI Hub at an enterprise operational level.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Data Science Master  |  PRAJJWAL SINGH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Official Verification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75488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Verification Metric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Official Record / Credential Details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82E"/>
                          </a:solidFill>
                        </a:rPr>
                        <a:t>Internship Title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6E"/>
                          </a:solidFill>
                        </a:rPr>
                        <a:t>Siemens Data Science Master Virtual Internship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82E"/>
                          </a:solidFill>
                        </a:rPr>
                        <a:t>Issuing Organization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6E"/>
                          </a:solidFill>
                        </a:rPr>
                        <a:t>EduSkills Academy (ISO 9001:2015 &amp; ISO 20000-1:2018 Certified)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82E"/>
                          </a:solidFill>
                        </a:rPr>
                        <a:t>Academic Patronage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6E"/>
                          </a:solidFill>
                        </a:rPr>
                        <a:t>AICTE National Internship Portal, Ministry of Education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82E"/>
                          </a:solidFill>
                        </a:rPr>
                        <a:t>Supported By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6E"/>
                          </a:solidFill>
                        </a:rPr>
                        <a:t>Siemens Industry Software (India) Pvt. Ltd.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82E"/>
                          </a:solidFill>
                        </a:rPr>
                        <a:t>Certificate ID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6E"/>
                          </a:solidFill>
                        </a:rPr>
                        <a:t>402ba7d147034138cc08  (Grade: O — Outstanding)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82E"/>
                          </a:solidFill>
                        </a:rPr>
                        <a:t>Offer Letter Ref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6E"/>
                          </a:solidFill>
                        </a:rPr>
                        <a:t>C17Y2026M081499400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82E"/>
                          </a:solidFill>
                        </a:rPr>
                        <a:t>AICTE Student ID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6E"/>
                          </a:solidFill>
                        </a:rPr>
                        <a:t>STU698c0da0f3a561770786208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Data Science Master  |  PRAJJWAL SINGH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Virtual Internship</a:t>
            </a:r>
            <a:endParaRPr lang="en-US" sz="2400" dirty="0"/>
          </a:p>
        </p:txBody>
      </p:sp>
      <p:pic>
        <p:nvPicPr>
          <p:cNvPr id="3" name="Image 0" descr="certifica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5070" y="960120"/>
            <a:ext cx="3978813" cy="562356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97680"/>
            <a:ext cx="3291840" cy="32918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3566160"/>
            <a:ext cx="7863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3794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candid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437" y="390791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3776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PRAJJWAL SINGH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83080" y="4096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2410031316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3703320"/>
            <a:ext cx="0" cy="960120"/>
          </a:xfrm>
          <a:prstGeom prst="line">
            <a:avLst/>
          </a:prstGeom>
          <a:noFill/>
          <a:ln w="12700">
            <a:solidFill>
              <a:srgbClr val="E3EE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15000" y="37947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icons/organiz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157" y="390791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0" y="373075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00800" y="4206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2026-08-29T12:25:44Z</dcterms:created>
  <dcterms:modified xsi:type="dcterms:W3CDTF">2026-08-29T12:25:44Z</dcterms:modified>
</cp:coreProperties>
</file>